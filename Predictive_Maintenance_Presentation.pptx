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88" autoAdjust="0"/>
    <p:restoredTop sz="94206" autoAdjust="0"/>
  </p:normalViewPr>
  <p:slideViewPr>
    <p:cSldViewPr snapToGrid="0" snapToObjects="1">
      <p:cViewPr>
        <p:scale>
          <a:sx n="80" d="100"/>
          <a:sy n="80" d="100"/>
        </p:scale>
        <p:origin x="354" y="-22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46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محمد رضا مصطفى علي" userId="c6ea1ee86786e35d" providerId="LiveId" clId="{471EB1E5-A5B5-4169-BAFF-97E1977EEA39}"/>
    <pc:docChg chg="undo custSel addSld modSld">
      <pc:chgData name="محمد رضا مصطفى علي" userId="c6ea1ee86786e35d" providerId="LiveId" clId="{471EB1E5-A5B5-4169-BAFF-97E1977EEA39}" dt="2026-08-27T11:32:50.128" v="177" actId="20577"/>
      <pc:docMkLst>
        <pc:docMk/>
      </pc:docMkLst>
      <pc:sldChg chg="modTransition">
        <pc:chgData name="محمد رضا مصطفى علي" userId="c6ea1ee86786e35d" providerId="LiveId" clId="{471EB1E5-A5B5-4169-BAFF-97E1977EEA39}" dt="2026-08-25T01:33:37.882" v="21"/>
        <pc:sldMkLst>
          <pc:docMk/>
          <pc:sldMk cId="0" sldId="256"/>
        </pc:sldMkLst>
      </pc:sldChg>
      <pc:sldChg chg="modTransition">
        <pc:chgData name="محمد رضا مصطفى علي" userId="c6ea1ee86786e35d" providerId="LiveId" clId="{471EB1E5-A5B5-4169-BAFF-97E1977EEA39}" dt="2026-08-25T01:33:52.186" v="22"/>
        <pc:sldMkLst>
          <pc:docMk/>
          <pc:sldMk cId="0" sldId="257"/>
        </pc:sldMkLst>
      </pc:sldChg>
      <pc:sldChg chg="modTransition">
        <pc:chgData name="محمد رضا مصطفى علي" userId="c6ea1ee86786e35d" providerId="LiveId" clId="{471EB1E5-A5B5-4169-BAFF-97E1977EEA39}" dt="2026-08-25T01:33:57.834" v="23"/>
        <pc:sldMkLst>
          <pc:docMk/>
          <pc:sldMk cId="0" sldId="258"/>
        </pc:sldMkLst>
      </pc:sldChg>
      <pc:sldChg chg="modTransition">
        <pc:chgData name="محمد رضا مصطفى علي" userId="c6ea1ee86786e35d" providerId="LiveId" clId="{471EB1E5-A5B5-4169-BAFF-97E1977EEA39}" dt="2026-08-25T01:34:04.402" v="24"/>
        <pc:sldMkLst>
          <pc:docMk/>
          <pc:sldMk cId="0" sldId="259"/>
        </pc:sldMkLst>
      </pc:sldChg>
      <pc:sldChg chg="modSp mod modTransition">
        <pc:chgData name="محمد رضا مصطفى علي" userId="c6ea1ee86786e35d" providerId="LiveId" clId="{471EB1E5-A5B5-4169-BAFF-97E1977EEA39}" dt="2026-08-25T01:34:41.513" v="34"/>
        <pc:sldMkLst>
          <pc:docMk/>
          <pc:sldMk cId="0" sldId="260"/>
        </pc:sldMkLst>
        <pc:picChg chg="mod">
          <ac:chgData name="محمد رضا مصطفى علي" userId="c6ea1ee86786e35d" providerId="LiveId" clId="{471EB1E5-A5B5-4169-BAFF-97E1977EEA39}" dt="2026-08-25T01:32:18.953" v="20" actId="1076"/>
          <ac:picMkLst>
            <pc:docMk/>
            <pc:sldMk cId="0" sldId="260"/>
            <ac:picMk id="7" creationId="{00000000-0000-0000-0000-000000000000}"/>
          </ac:picMkLst>
        </pc:picChg>
      </pc:sldChg>
      <pc:sldChg chg="modTransition">
        <pc:chgData name="محمد رضا مصطفى علي" userId="c6ea1ee86786e35d" providerId="LiveId" clId="{471EB1E5-A5B5-4169-BAFF-97E1977EEA39}" dt="2026-08-25T01:34:38.408" v="33"/>
        <pc:sldMkLst>
          <pc:docMk/>
          <pc:sldMk cId="0" sldId="261"/>
        </pc:sldMkLst>
      </pc:sldChg>
      <pc:sldChg chg="modTransition">
        <pc:chgData name="محمد رضا مصطفى علي" userId="c6ea1ee86786e35d" providerId="LiveId" clId="{471EB1E5-A5B5-4169-BAFF-97E1977EEA39}" dt="2026-08-25T01:34:45.369" v="35"/>
        <pc:sldMkLst>
          <pc:docMk/>
          <pc:sldMk cId="0" sldId="262"/>
        </pc:sldMkLst>
      </pc:sldChg>
      <pc:sldChg chg="modTransition">
        <pc:chgData name="محمد رضا مصطفى علي" userId="c6ea1ee86786e35d" providerId="LiveId" clId="{471EB1E5-A5B5-4169-BAFF-97E1977EEA39}" dt="2026-08-25T01:34:49.897" v="36"/>
        <pc:sldMkLst>
          <pc:docMk/>
          <pc:sldMk cId="0" sldId="263"/>
        </pc:sldMkLst>
      </pc:sldChg>
      <pc:sldChg chg="modTransition">
        <pc:chgData name="محمد رضا مصطفى علي" userId="c6ea1ee86786e35d" providerId="LiveId" clId="{471EB1E5-A5B5-4169-BAFF-97E1977EEA39}" dt="2026-08-25T01:35:16.554" v="37"/>
        <pc:sldMkLst>
          <pc:docMk/>
          <pc:sldMk cId="0" sldId="264"/>
        </pc:sldMkLst>
      </pc:sldChg>
      <pc:sldChg chg="modTransition">
        <pc:chgData name="محمد رضا مصطفى علي" userId="c6ea1ee86786e35d" providerId="LiveId" clId="{471EB1E5-A5B5-4169-BAFF-97E1977EEA39}" dt="2026-08-25T01:35:27.946" v="39"/>
        <pc:sldMkLst>
          <pc:docMk/>
          <pc:sldMk cId="0" sldId="265"/>
        </pc:sldMkLst>
      </pc:sldChg>
      <pc:sldChg chg="modSp mod modTransition">
        <pc:chgData name="محمد رضا مصطفى علي" userId="c6ea1ee86786e35d" providerId="LiveId" clId="{471EB1E5-A5B5-4169-BAFF-97E1977EEA39}" dt="2026-08-27T11:20:24.808" v="104" actId="6549"/>
        <pc:sldMkLst>
          <pc:docMk/>
          <pc:sldMk cId="0" sldId="266"/>
        </pc:sldMkLst>
        <pc:spChg chg="mod">
          <ac:chgData name="محمد رضا مصطفى علي" userId="c6ea1ee86786e35d" providerId="LiveId" clId="{471EB1E5-A5B5-4169-BAFF-97E1977EEA39}" dt="2026-08-27T11:20:24.808" v="104" actId="6549"/>
          <ac:spMkLst>
            <pc:docMk/>
            <pc:sldMk cId="0" sldId="266"/>
            <ac:spMk id="3" creationId="{00000000-0000-0000-0000-000000000000}"/>
          </ac:spMkLst>
        </pc:spChg>
      </pc:sldChg>
      <pc:sldChg chg="modSp mod modTransition">
        <pc:chgData name="محمد رضا مصطفى علي" userId="c6ea1ee86786e35d" providerId="LiveId" clId="{471EB1E5-A5B5-4169-BAFF-97E1977EEA39}" dt="2026-08-27T11:32:50.128" v="177" actId="20577"/>
        <pc:sldMkLst>
          <pc:docMk/>
          <pc:sldMk cId="0" sldId="267"/>
        </pc:sldMkLst>
        <pc:spChg chg="mod">
          <ac:chgData name="محمد رضا مصطفى علي" userId="c6ea1ee86786e35d" providerId="LiveId" clId="{471EB1E5-A5B5-4169-BAFF-97E1977EEA39}" dt="2026-08-27T11:32:50.128" v="177" actId="20577"/>
          <ac:spMkLst>
            <pc:docMk/>
            <pc:sldMk cId="0" sldId="267"/>
            <ac:spMk id="3" creationId="{00000000-0000-0000-0000-000000000000}"/>
          </ac:spMkLst>
        </pc:spChg>
        <pc:graphicFrameChg chg="mod modGraphic">
          <ac:chgData name="محمد رضا مصطفى علي" userId="c6ea1ee86786e35d" providerId="LiveId" clId="{471EB1E5-A5B5-4169-BAFF-97E1977EEA39}" dt="2026-08-27T10:58:42.013" v="102"/>
          <ac:graphicFrameMkLst>
            <pc:docMk/>
            <pc:sldMk cId="0" sldId="267"/>
            <ac:graphicFrameMk id="4" creationId="{00000000-0000-0000-0000-000000000000}"/>
          </ac:graphicFrameMkLst>
        </pc:graphicFrameChg>
      </pc:sldChg>
      <pc:sldChg chg="modTransition">
        <pc:chgData name="محمد رضا مصطفى علي" userId="c6ea1ee86786e35d" providerId="LiveId" clId="{471EB1E5-A5B5-4169-BAFF-97E1977EEA39}" dt="2026-08-25T01:35:43.218" v="42"/>
        <pc:sldMkLst>
          <pc:docMk/>
          <pc:sldMk cId="0" sldId="268"/>
        </pc:sldMkLst>
      </pc:sldChg>
      <pc:sldChg chg="modTransition">
        <pc:chgData name="محمد رضا مصطفى علي" userId="c6ea1ee86786e35d" providerId="LiveId" clId="{471EB1E5-A5B5-4169-BAFF-97E1977EEA39}" dt="2026-08-25T01:35:47.570" v="43"/>
        <pc:sldMkLst>
          <pc:docMk/>
          <pc:sldMk cId="0" sldId="269"/>
        </pc:sldMkLst>
      </pc:sldChg>
      <pc:sldChg chg="modTransition">
        <pc:chgData name="محمد رضا مصطفى علي" userId="c6ea1ee86786e35d" providerId="LiveId" clId="{471EB1E5-A5B5-4169-BAFF-97E1977EEA39}" dt="2026-08-25T01:35:50.906" v="44"/>
        <pc:sldMkLst>
          <pc:docMk/>
          <pc:sldMk cId="0" sldId="270"/>
        </pc:sldMkLst>
      </pc:sldChg>
      <pc:sldChg chg="modTransition">
        <pc:chgData name="محمد رضا مصطفى علي" userId="c6ea1ee86786e35d" providerId="LiveId" clId="{471EB1E5-A5B5-4169-BAFF-97E1977EEA39}" dt="2026-08-25T01:35:55.505" v="45"/>
        <pc:sldMkLst>
          <pc:docMk/>
          <pc:sldMk cId="0" sldId="271"/>
        </pc:sldMkLst>
      </pc:sldChg>
      <pc:sldChg chg="modTransition">
        <pc:chgData name="محمد رضا مصطفى علي" userId="c6ea1ee86786e35d" providerId="LiveId" clId="{471EB1E5-A5B5-4169-BAFF-97E1977EEA39}" dt="2026-08-25T01:35:59.273" v="46"/>
        <pc:sldMkLst>
          <pc:docMk/>
          <pc:sldMk cId="0" sldId="272"/>
        </pc:sldMkLst>
      </pc:sldChg>
      <pc:sldChg chg="modTransition">
        <pc:chgData name="محمد رضا مصطفى علي" userId="c6ea1ee86786e35d" providerId="LiveId" clId="{471EB1E5-A5B5-4169-BAFF-97E1977EEA39}" dt="2026-08-25T01:36:01.665" v="47"/>
        <pc:sldMkLst>
          <pc:docMk/>
          <pc:sldMk cId="0" sldId="273"/>
        </pc:sldMkLst>
      </pc:sldChg>
      <pc:sldChg chg="modSp mod modTransition">
        <pc:chgData name="محمد رضا مصطفى علي" userId="c6ea1ee86786e35d" providerId="LiveId" clId="{471EB1E5-A5B5-4169-BAFF-97E1977EEA39}" dt="2026-08-25T01:36:04.571" v="48"/>
        <pc:sldMkLst>
          <pc:docMk/>
          <pc:sldMk cId="0" sldId="274"/>
        </pc:sldMkLst>
        <pc:spChg chg="mod">
          <ac:chgData name="محمد رضا مصطفى علي" userId="c6ea1ee86786e35d" providerId="LiveId" clId="{471EB1E5-A5B5-4169-BAFF-97E1977EEA39}" dt="2026-08-25T01:30:02.479" v="0" actId="207"/>
          <ac:spMkLst>
            <pc:docMk/>
            <pc:sldMk cId="0" sldId="274"/>
            <ac:spMk id="3" creationId="{00000000-0000-0000-0000-000000000000}"/>
          </ac:spMkLst>
        </pc:spChg>
      </pc:sldChg>
      <pc:sldChg chg="modSp mod modTransition">
        <pc:chgData name="محمد رضا مصطفى علي" userId="c6ea1ee86786e35d" providerId="LiveId" clId="{471EB1E5-A5B5-4169-BAFF-97E1977EEA39}" dt="2026-08-25T01:36:08.016" v="49"/>
        <pc:sldMkLst>
          <pc:docMk/>
          <pc:sldMk cId="0" sldId="275"/>
        </pc:sldMkLst>
        <pc:spChg chg="mod">
          <ac:chgData name="محمد رضا مصطفى علي" userId="c6ea1ee86786e35d" providerId="LiveId" clId="{471EB1E5-A5B5-4169-BAFF-97E1977EEA39}" dt="2026-08-25T01:31:54.140" v="15" actId="207"/>
          <ac:spMkLst>
            <pc:docMk/>
            <pc:sldMk cId="0" sldId="275"/>
            <ac:spMk id="3" creationId="{00000000-0000-0000-0000-000000000000}"/>
          </ac:spMkLst>
        </pc:spChg>
      </pc:sldChg>
      <pc:sldChg chg="addSp delSp modSp mod modTransition">
        <pc:chgData name="محمد رضا مصطفى علي" userId="c6ea1ee86786e35d" providerId="LiveId" clId="{471EB1E5-A5B5-4169-BAFF-97E1977EEA39}" dt="2026-08-26T23:51:52.466" v="76" actId="1076"/>
        <pc:sldMkLst>
          <pc:docMk/>
          <pc:sldMk cId="0" sldId="276"/>
        </pc:sldMkLst>
        <pc:spChg chg="mod">
          <ac:chgData name="محمد رضا مصطفى علي" userId="c6ea1ee86786e35d" providerId="LiveId" clId="{471EB1E5-A5B5-4169-BAFF-97E1977EEA39}" dt="2026-08-26T23:51:13.594" v="67" actId="1076"/>
          <ac:spMkLst>
            <pc:docMk/>
            <pc:sldMk cId="0" sldId="276"/>
            <ac:spMk id="2" creationId="{00000000-0000-0000-0000-000000000000}"/>
          </ac:spMkLst>
        </pc:spChg>
        <pc:spChg chg="add del mod">
          <ac:chgData name="محمد رضا مصطفى علي" userId="c6ea1ee86786e35d" providerId="LiveId" clId="{471EB1E5-A5B5-4169-BAFF-97E1977EEA39}" dt="2026-08-26T23:51:16.603" v="70"/>
          <ac:spMkLst>
            <pc:docMk/>
            <pc:sldMk cId="0" sldId="276"/>
            <ac:spMk id="9" creationId="{EA5D2917-9E27-1B33-2BB5-40E34ADBA12F}"/>
          </ac:spMkLst>
        </pc:spChg>
        <pc:spChg chg="add mod">
          <ac:chgData name="محمد رضا مصطفى علي" userId="c6ea1ee86786e35d" providerId="LiveId" clId="{471EB1E5-A5B5-4169-BAFF-97E1977EEA39}" dt="2026-08-26T23:51:52.466" v="76" actId="1076"/>
          <ac:spMkLst>
            <pc:docMk/>
            <pc:sldMk cId="0" sldId="276"/>
            <ac:spMk id="10" creationId="{DE78C1BE-8D7F-9CBE-3850-E55228E8B55A}"/>
          </ac:spMkLst>
        </pc:spChg>
        <pc:picChg chg="add mod">
          <ac:chgData name="محمد رضا مصطفى علي" userId="c6ea1ee86786e35d" providerId="LiveId" clId="{471EB1E5-A5B5-4169-BAFF-97E1977EEA39}" dt="2026-08-26T23:51:47.058" v="75" actId="1076"/>
          <ac:picMkLst>
            <pc:docMk/>
            <pc:sldMk cId="0" sldId="276"/>
            <ac:picMk id="4" creationId="{A02EFB75-B9DB-7A1C-1A98-41C6DA2EE079}"/>
          </ac:picMkLst>
        </pc:picChg>
        <pc:cxnChg chg="add mod">
          <ac:chgData name="محمد رضا مصطفى علي" userId="c6ea1ee86786e35d" providerId="LiveId" clId="{471EB1E5-A5B5-4169-BAFF-97E1977EEA39}" dt="2026-08-26T23:51:09.089" v="66" actId="1076"/>
          <ac:cxnSpMkLst>
            <pc:docMk/>
            <pc:sldMk cId="0" sldId="276"/>
            <ac:cxnSpMk id="6" creationId="{0C785CD7-AE2F-8A66-BD0B-DF22B86B016B}"/>
          </ac:cxnSpMkLst>
        </pc:cxnChg>
      </pc:sldChg>
      <pc:sldChg chg="modSp add mod">
        <pc:chgData name="محمد رضا مصطفى علي" userId="c6ea1ee86786e35d" providerId="LiveId" clId="{471EB1E5-A5B5-4169-BAFF-97E1977EEA39}" dt="2026-08-27T11:32:37.215" v="170" actId="20577"/>
        <pc:sldMkLst>
          <pc:docMk/>
          <pc:sldMk cId="3646328999" sldId="277"/>
        </pc:sldMkLst>
        <pc:spChg chg="mod">
          <ac:chgData name="محمد رضا مصطفى علي" userId="c6ea1ee86786e35d" providerId="LiveId" clId="{471EB1E5-A5B5-4169-BAFF-97E1977EEA39}" dt="2026-08-27T11:32:37.215" v="170" actId="20577"/>
          <ac:spMkLst>
            <pc:docMk/>
            <pc:sldMk cId="3646328999" sldId="277"/>
            <ac:spMk id="3" creationId="{A2BDF034-9B51-D71F-064C-18BAED24C4CF}"/>
          </ac:spMkLst>
        </pc:spChg>
        <pc:graphicFrameChg chg="mod modGraphic">
          <ac:chgData name="محمد رضا مصطفى علي" userId="c6ea1ee86786e35d" providerId="LiveId" clId="{471EB1E5-A5B5-4169-BAFF-97E1977EEA39}" dt="2026-08-27T11:25:21.063" v="163"/>
          <ac:graphicFrameMkLst>
            <pc:docMk/>
            <pc:sldMk cId="3646328999" sldId="277"/>
            <ac:graphicFrameMk id="4" creationId="{52B5D41C-C7CC-1399-F69C-E2AA7BEE91FE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03601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/>
              <a:t>PREDICTIVE MAINTENANCE SYSTEM</a:t>
            </a:r>
          </a:p>
          <a:p>
            <a:pPr algn="ctr">
              <a:defRPr sz="2400">
                <a:solidFill>
                  <a:srgbClr val="5FD4E8"/>
                </a:solidFill>
              </a:defRPr>
            </a:pPr>
            <a:r>
              <a:rPr dirty="0"/>
              <a:t>An AI-Driven Approach to Industrial Equipment Monitoring</a:t>
            </a:r>
          </a:p>
          <a:p>
            <a:pPr algn="ctr"/>
            <a:r>
              <a:rPr sz="1800" dirty="0">
                <a:solidFill>
                  <a:srgbClr val="FFFFFF"/>
                </a:solidFill>
              </a:rPr>
              <a:t>
Mohamed Reda | ML Graduation Project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02 /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Presentation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2400">
                <a:solidFill>
                  <a:srgbClr val="FFFFFF"/>
                </a:solidFill>
                <a:latin typeface="Arial"/>
              </a:defRPr>
            </a:pPr>
            <a:r>
              <a:t>1. Problem Statement</a:t>
            </a:r>
            <a:br/>
            <a:r>
              <a:t>2. Dataset Overview</a:t>
            </a:r>
            <a:br/>
            <a:r>
              <a:t>3. System Architecture</a:t>
            </a:r>
            <a:br/>
            <a:r>
              <a:t>4. Methodology &amp; Engineering</a:t>
            </a:r>
            <a:br/>
            <a:r>
              <a:t>5. Results &amp; Evaluation</a:t>
            </a:r>
            <a:br/>
            <a:r>
              <a:t>6. Live Demonstration</a:t>
            </a:r>
          </a:p>
        </p:txBody>
      </p:sp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03 /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rPr dirty="0"/>
              <a:t>Why Predictive Maintenance?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4572000" cy="27432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8A97A8"/>
                </a:solidFill>
              </a:defRPr>
            </a:pPr>
            <a:r>
              <a:t>Reactive Maintenance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Run-to-Failure.</a:t>
            </a:r>
            <a:br/>
            <a:r>
              <a:t>High downtime, expensive emergency repairs, severe productivity loss.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02552" y="2286000"/>
            <a:ext cx="4572000" cy="27432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5FD4E8"/>
                </a:solidFill>
              </a:defRPr>
            </a:pPr>
            <a:r>
              <a:t>Predictive Maintenance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Data-Driven Prevention.</a:t>
            </a:r>
            <a:br/>
            <a:r>
              <a:t>Anticipate failures, schedule maintenance, maximize uptime.</a:t>
            </a:r>
          </a:p>
        </p:txBody>
      </p:sp>
    </p:spTree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04 / PROJECT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Objective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2286000"/>
            <a:ext cx="8531352" cy="27432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5FD4E8"/>
                </a:solidFill>
              </a:defRPr>
            </a:pPr>
            <a:r>
              <a:t>The Goal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To design and implement an intelligent, two-stage machine learning system capable of anticipating equipment failures from raw sensor readings and classifying the specific failure mode before critical breakdown occurs.</a:t>
            </a:r>
          </a:p>
        </p:txBody>
      </p:sp>
    </p:spTree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05 / DATA EXPLORATION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AI4I 2020 Predictive Maintenance Dataset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3200400" cy="13716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C98FE8"/>
                </a:solidFill>
              </a:defRPr>
            </a:pPr>
            <a:r>
              <a:t>10,000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Total Records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1828800"/>
            <a:ext cx="3200400" cy="13716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C98FE8"/>
                </a:solidFill>
              </a:defRPr>
            </a:pPr>
            <a:r>
              <a:t>6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Key Sensor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828800"/>
            <a:ext cx="3200400" cy="13716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5FD4E8"/>
                </a:solidFill>
              </a:defRPr>
            </a:pPr>
            <a:r>
              <a:t>3.4%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Failure Rate</a:t>
            </a:r>
          </a:p>
        </p:txBody>
      </p:sp>
      <p:pic>
        <p:nvPicPr>
          <p:cNvPr id="7" name="Picture 6" descr="media_17876192980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2540" y="3429000"/>
            <a:ext cx="6556439" cy="3276222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06 / FAILURE TYPES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Diagnosing 5 Failure Modes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1828800" cy="18288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F2B06D"/>
                </a:solidFill>
              </a:defRPr>
            </a:pPr>
            <a:r>
              <a:t>TWF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Tool Wear Failure</a:t>
            </a:r>
            <a:br/>
            <a:r>
              <a:t>Degradation over time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2286000"/>
            <a:ext cx="1828800" cy="18288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F2B06D"/>
                </a:solidFill>
              </a:defRPr>
            </a:pPr>
            <a:r>
              <a:t>HDF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Heat Dissipation Failure</a:t>
            </a:r>
            <a:br/>
            <a:r>
              <a:t>Thermal overload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7760" y="2286000"/>
            <a:ext cx="1828800" cy="18288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F2B06D"/>
                </a:solidFill>
              </a:defRPr>
            </a:pPr>
            <a:r>
              <a:t>PWF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Power Failure</a:t>
            </a:r>
            <a:br/>
            <a:r>
              <a:t>Voltage/Torque anomaly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2286000"/>
            <a:ext cx="1828800" cy="18288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F2B06D"/>
                </a:solidFill>
              </a:defRPr>
            </a:pPr>
            <a:r>
              <a:t>OSF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Overstrain Failure</a:t>
            </a:r>
            <a:br/>
            <a:r>
              <a:t>Excessive mechanical stress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2286000"/>
            <a:ext cx="1828800" cy="18288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F2B06D"/>
                </a:solidFill>
              </a:defRPr>
            </a:pPr>
            <a:r>
              <a:t>RNF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Random Failure</a:t>
            </a:r>
            <a:br/>
            <a:r>
              <a:t>Stochastic breakdowns</a:t>
            </a:r>
          </a:p>
        </p:txBody>
      </p:sp>
    </p:spTree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07 / THE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The Extreme Imbalance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2200">
                <a:solidFill>
                  <a:srgbClr val="FFFFFF"/>
                </a:solidFill>
                <a:latin typeface="Arial"/>
              </a:defRPr>
            </a:pPr>
            <a:r>
              <a:t>Normal Operations: 96.6% (9,661 samples)</a:t>
            </a:r>
            <a:br/>
            <a:r>
              <a:t>Machine Failures: 3.4% (339 samples)</a:t>
            </a:r>
            <a:br/>
            <a:br/>
            <a:r>
              <a:t>Why it matters:</a:t>
            </a:r>
            <a:br/>
            <a:r>
              <a:t>Standard algorithms will simply predict 'Safe' 100% of the time to achieve 96.6% accuracy, completely ignoring the critical failures.</a:t>
            </a:r>
          </a:p>
        </p:txBody>
      </p:sp>
    </p:spTree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08 /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Two-Stage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743200"/>
            <a:ext cx="2743200" cy="18288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C98FE8"/>
                </a:solidFill>
              </a:defRPr>
            </a:pPr>
            <a:r>
              <a:t>SENSOR INPUT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Raw physical telemetry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2743200"/>
            <a:ext cx="2743200" cy="18288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5FD4E8"/>
                </a:solidFill>
              </a:defRPr>
            </a:pPr>
            <a:r>
              <a:t>STAGE 1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Binary Detection</a:t>
            </a:r>
            <a:br/>
            <a:r>
              <a:t>(Safe vs At Risk)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0" y="2743200"/>
            <a:ext cx="2743200" cy="18288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F2B06D"/>
                </a:solidFill>
              </a:defRPr>
            </a:pPr>
            <a:r>
              <a:t>STAGE 2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Failure Classification</a:t>
            </a:r>
            <a:br/>
            <a:r>
              <a:t>(Type of Failure)</a:t>
            </a:r>
          </a:p>
        </p:txBody>
      </p:sp>
    </p:spTree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09 /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Injecting Domain Knowledge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1828800"/>
            <a:ext cx="8531352" cy="146304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5FD4E8"/>
                </a:solidFill>
              </a:defRPr>
            </a:pPr>
            <a:r>
              <a:t>temp_diff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Process Temp - Air Temp</a:t>
            </a:r>
            <a:br/>
            <a:r>
              <a:t>(Crucial for Heat Dissipation Failure)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3474720"/>
            <a:ext cx="8531352" cy="146304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5FD4E8"/>
                </a:solidFill>
              </a:defRPr>
            </a:pPr>
            <a:r>
              <a:t>power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Torque × Rotational Speed</a:t>
            </a:r>
            <a:br/>
            <a:r>
              <a:t>(Crucial for Power Failure)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5120640"/>
            <a:ext cx="8531352" cy="146304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5FD4E8"/>
                </a:solidFill>
              </a:defRPr>
            </a:pPr>
            <a:r>
              <a:t>torque_per_wear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Torque / Tool Wear</a:t>
            </a:r>
            <a:br/>
            <a:r>
              <a:t>(Crucial for Overstrain Failure)</a:t>
            </a:r>
          </a:p>
        </p:txBody>
      </p:sp>
    </p:spTree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10 / IMBALANCE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Algorithmic Balancing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4572000" cy="27432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5FD4E8"/>
                </a:solidFill>
              </a:defRPr>
            </a:pPr>
            <a:r>
              <a:t>1. SMOTE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Synthetic Minority Over-sampling Technique applied strictly to training data to synthesize realistic failure profiles.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02552" y="2286000"/>
            <a:ext cx="4572000" cy="27432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5FD4E8"/>
                </a:solidFill>
              </a:defRPr>
            </a:pPr>
            <a:r>
              <a:t>2. Class Weights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Utilized during model training to heavily penalize misclassification of the minority failure classes.</a:t>
            </a:r>
          </a:p>
        </p:txBody>
      </p:sp>
    </p:spTree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11 / MODELS TESTED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6885" y="731520"/>
            <a:ext cx="4673074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rPr dirty="0"/>
              <a:t>Rigorous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Models Evaluated (5-fold CV):</a:t>
            </a:r>
            <a:br>
              <a:rPr dirty="0"/>
            </a:br>
            <a:br>
              <a:rPr dirty="0"/>
            </a:br>
            <a:r>
              <a:rPr dirty="0"/>
              <a:t>1. Logistic Regression</a:t>
            </a:r>
            <a:br>
              <a:rPr dirty="0"/>
            </a:br>
            <a:r>
              <a:rPr dirty="0"/>
              <a:t>2. Decision Tree</a:t>
            </a:r>
            <a:br>
              <a:rPr dirty="0"/>
            </a:br>
            <a:r>
              <a:rPr dirty="0"/>
              <a:t>3. Random Forest</a:t>
            </a:r>
            <a:br>
              <a:rPr dirty="0"/>
            </a:br>
            <a:r>
              <a:rPr dirty="0"/>
              <a:t>4. Support Vector Machine (SVM)</a:t>
            </a:r>
            <a:br>
              <a:rPr dirty="0"/>
            </a:br>
            <a:r>
              <a:rPr dirty="0"/>
              <a:t>5. K-Nearest Neighbors (KNN)</a:t>
            </a:r>
            <a:br>
              <a:rPr dirty="0"/>
            </a:br>
            <a:br>
              <a:rPr dirty="0"/>
            </a:br>
            <a:r>
              <a:rPr dirty="0"/>
              <a:t>🏆 Selected Best Model: </a:t>
            </a:r>
            <a:r>
              <a:rPr dirty="0" err="1"/>
              <a:t>XGBoost</a:t>
            </a:r>
            <a:endParaRPr dirty="0"/>
          </a:p>
        </p:txBody>
      </p:sp>
    </p:spTree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12 /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546477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rPr dirty="0"/>
              <a:t>Model Comparison &amp; Selection</a:t>
            </a:r>
            <a:r>
              <a:rPr lang="en-US" dirty="0"/>
              <a:t> for binary-class</a:t>
            </a:r>
            <a:endParaRPr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8553913"/>
              </p:ext>
            </p:extLst>
          </p:nvPr>
        </p:nvGraphicFramePr>
        <p:xfrm>
          <a:off x="1371600" y="2418348"/>
          <a:ext cx="9445752" cy="3749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2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2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42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42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42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7429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5FD4E8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C27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5FD4E8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1C27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5FD4E8"/>
                          </a:solidFill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1C27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5FD4E8"/>
                          </a:solidFill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1C27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5FD4E8"/>
                          </a:solidFill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1C27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5FD4E8"/>
                          </a:solidFill>
                        </a:defRPr>
                      </a:pPr>
                      <a:r>
                        <a:t>AUC-ROC</a:t>
                      </a:r>
                    </a:p>
                  </a:txBody>
                  <a:tcPr>
                    <a:solidFill>
                      <a:srgbClr val="1C27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2B06D"/>
                          </a:solidFill>
                        </a:defRPr>
                      </a:pPr>
                      <a:r>
                        <a:t>XGBoost (Selected)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2B06D"/>
                          </a:solidFill>
                        </a:defRPr>
                      </a:pPr>
                      <a:r>
                        <a:t>0.982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2B06D"/>
                          </a:solidFill>
                        </a:defRPr>
                      </a:pPr>
                      <a:r>
                        <a:t>0.696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2B06D"/>
                          </a:solidFill>
                        </a:defRPr>
                      </a:pPr>
                      <a:r>
                        <a:t>0.809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2B06D"/>
                          </a:solidFill>
                        </a:defRPr>
                      </a:pPr>
                      <a:r>
                        <a:t>0.748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2B06D"/>
                          </a:solidFill>
                        </a:defRPr>
                      </a:pPr>
                      <a:r>
                        <a:t>0.980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Random Forest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0.973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0.571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0.824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0.675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0.976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Decision Tree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0.963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0.471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0.824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0.599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0.895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dirty="0"/>
                        <a:t>SVM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dirty="0"/>
                        <a:t>0.925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800" b="0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0.302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800" b="0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0.926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800" b="0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0.456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800" b="0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0.975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59046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dirty="0"/>
                        <a:t>KNN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800" b="0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0.937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800" b="0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0.320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800" b="0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0.750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800" b="0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0.449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800" b="0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0.896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958096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Logistic Regression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0.866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0.188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0.882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0.309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0.934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55F1EA-490A-1F11-AB5C-7B89A4A62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3144E9-F5BD-1250-B8E3-927FD44B1954}"/>
              </a:ext>
            </a:extLst>
          </p:cNvPr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12 / 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BDF034-9B51-D71F-064C-18BAED24C4CF}"/>
              </a:ext>
            </a:extLst>
          </p:cNvPr>
          <p:cNvSpPr txBox="1"/>
          <p:nvPr/>
        </p:nvSpPr>
        <p:spPr>
          <a:xfrm>
            <a:off x="457200" y="731520"/>
            <a:ext cx="10264348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rPr dirty="0"/>
              <a:t>Model Comparison &amp; Selection</a:t>
            </a:r>
            <a:r>
              <a:rPr lang="en-US" dirty="0"/>
              <a:t> for multi-class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2B5D41C-C7CC-1399-F69C-E2AA7BEE91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2962665"/>
              </p:ext>
            </p:extLst>
          </p:nvPr>
        </p:nvGraphicFramePr>
        <p:xfrm>
          <a:off x="1371600" y="2418348"/>
          <a:ext cx="7871460" cy="3749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2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2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42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42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42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5FD4E8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C27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5FD4E8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1C27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5FD4E8"/>
                          </a:solidFill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1C27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5FD4E8"/>
                          </a:solidFill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1C27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5FD4E8"/>
                          </a:solidFill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1C27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2B06D"/>
                          </a:solidFill>
                        </a:defRPr>
                      </a:pPr>
                      <a:r>
                        <a:t>XGBoost (Selected)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2B06D"/>
                          </a:solidFill>
                        </a:defRPr>
                      </a:pPr>
                      <a:r>
                        <a:rPr lang="en-US" sz="1800" b="0" i="0" kern="1200" dirty="0">
                          <a:solidFill>
                            <a:srgbClr val="F2B06D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0.978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2B06D"/>
                          </a:solidFill>
                        </a:defRPr>
                      </a:pPr>
                      <a:r>
                        <a:rPr lang="en-US" sz="1800" b="0" i="0" kern="1200" dirty="0">
                          <a:solidFill>
                            <a:srgbClr val="F2B06D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0.987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2B06D"/>
                          </a:solidFill>
                        </a:defRPr>
                      </a:pPr>
                      <a:r>
                        <a:rPr lang="en-US" sz="1800" b="0" i="0" kern="1200" dirty="0">
                          <a:solidFill>
                            <a:srgbClr val="F2B06D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0.978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2B06D"/>
                          </a:solidFill>
                        </a:defRPr>
                      </a:pPr>
                      <a:r>
                        <a:rPr lang="en-US" sz="1800" b="0" i="0" kern="1200" dirty="0">
                          <a:solidFill>
                            <a:srgbClr val="F2B06D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0.982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Random Forest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800" b="0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0.974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800" b="0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0.986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800" b="0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0.974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800" b="0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0.980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Decision Tree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800" b="0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0.975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800" b="0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0.984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800" b="0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0.975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800" b="0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0.979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dirty="0"/>
                        <a:t>KNN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800" b="0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0.911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800" b="0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0.970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800" b="0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0.911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800" b="0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0.937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59046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dirty="0"/>
                        <a:t>SVM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800" b="0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0.854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800" b="0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0.976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800" b="0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0.854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800" b="0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0.907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958096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Logistic Regression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800" b="0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0.611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800" b="0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0.974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800" b="0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0.611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800" b="0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0.740</a:t>
                      </a:r>
                      <a:endParaRPr dirty="0"/>
                    </a:p>
                  </a:txBody>
                  <a:tcPr>
                    <a:solidFill>
                      <a:srgbClr val="05070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6328999"/>
      </p:ext>
    </p:extLst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13 /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The Business Objective: Maximizing Recall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2286000"/>
            <a:ext cx="8531352" cy="18288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F2B06D"/>
                </a:solidFill>
              </a:defRPr>
            </a:pPr>
            <a:r>
              <a:t>False Negative = Disasters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Predicting 'Safe' when the machine is actually failing results in catastrophic breakdown and halts production.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4389120"/>
            <a:ext cx="8531352" cy="18288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8A97A8"/>
                </a:solidFill>
              </a:defRPr>
            </a:pPr>
            <a:r>
              <a:t>False Positive = Minor Cost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Predicting 'Failure' when it is safe only requires a brief routine inspection.</a:t>
            </a:r>
          </a:p>
        </p:txBody>
      </p:sp>
    </p:spTree>
  </p:cSld>
  <p:clrMapOvr>
    <a:masterClrMapping/>
  </p:clrMapOvr>
  <p:transition spd="slow">
    <p:wip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14 /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XGBoost Performance Metrics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4572000" cy="22860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5FD4E8"/>
                </a:solidFill>
              </a:defRPr>
            </a:pPr>
            <a:r>
              <a:t>Binary Classification (Fail / Safe)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F1-Score: 0.748</a:t>
            </a:r>
            <a:br/>
            <a:r>
              <a:t>Recall: 0.809</a:t>
            </a:r>
            <a:br/>
            <a:r>
              <a:t>AUC-ROC: 0.980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02552" y="2286000"/>
            <a:ext cx="4572000" cy="22860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F2B06D"/>
                </a:solidFill>
              </a:defRPr>
            </a:pPr>
            <a:r>
              <a:t>Multi-class (Failure Type)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Weighted F1: 0.981</a:t>
            </a:r>
            <a:br/>
            <a:r>
              <a:t>Weighted Recall: 0.987</a:t>
            </a:r>
            <a:br/>
            <a:r>
              <a:t>Accuracy: 97.7%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2200">
                <a:solidFill>
                  <a:srgbClr val="FFFFFF"/>
                </a:solidFill>
                <a:latin typeface="Arial"/>
              </a:defRPr>
            </a:pPr>
            <a:r>
              <a:t>XGBoost successfully handled the highly imbalanced nature of the dataset (combined with SMOTE) and effectively captured the non-linear relationships in the sensor readings (like Power and Torque).</a:t>
            </a:r>
          </a:p>
        </p:txBody>
      </p:sp>
    </p:spTree>
  </p:cSld>
  <p:clrMapOvr>
    <a:masterClrMapping/>
  </p:clrMapOvr>
  <p:transition spd="slow">
    <p:wip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15 /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Interactive Monitoring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2400">
                <a:solidFill>
                  <a:srgbClr val="FFFFFF"/>
                </a:solidFill>
                <a:latin typeface="Arial"/>
              </a:defRPr>
            </a:pPr>
            <a:r>
              <a:t>We built a fully interactive web application using Streamlit to deploy the models into a production-like environment.</a:t>
            </a:r>
            <a:br/>
            <a:br/>
            <a:r>
              <a:t>Key Features:</a:t>
            </a:r>
            <a:br/>
            <a:r>
              <a:t>• Dark Industrial Theme for operator environments.</a:t>
            </a:r>
            <a:br/>
            <a:r>
              <a:t>• Two-Stage Live Prediction Engine.</a:t>
            </a:r>
            <a:br/>
            <a:r>
              <a:t>• Real-time confidence metrics and Model Performance insights.</a:t>
            </a:r>
          </a:p>
        </p:txBody>
      </p:sp>
    </p:spTree>
  </p:cSld>
  <p:clrMapOvr>
    <a:masterClrMapping/>
  </p:clrMapOvr>
  <p:transition spd="slow">
    <p:wip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16 / 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Live Demo: Dashboard Interface</a:t>
            </a:r>
          </a:p>
        </p:txBody>
      </p:sp>
      <p:pic>
        <p:nvPicPr>
          <p:cNvPr id="4" name="Picture 3" descr="media_17876192978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828800"/>
            <a:ext cx="9445752" cy="3569830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17 / 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Live Demo: Two-Stage Prediction</a:t>
            </a:r>
          </a:p>
        </p:txBody>
      </p:sp>
      <p:pic>
        <p:nvPicPr>
          <p:cNvPr id="4" name="Picture 3" descr="media_17876192978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828800"/>
            <a:ext cx="9445752" cy="4390799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18 / 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Live Demo: Model Insights</a:t>
            </a:r>
          </a:p>
        </p:txBody>
      </p:sp>
      <p:pic>
        <p:nvPicPr>
          <p:cNvPr id="4" name="Picture 3" descr="media_17876192978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828800"/>
            <a:ext cx="9445752" cy="4667530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19 /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4416594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>
              <a:solidFill>
                <a:srgbClr val="FF0000"/>
              </a:solidFill>
            </a:endParaRPr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rPr dirty="0"/>
              <a:t>System Limitations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4572000" cy="27432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F2B06D"/>
                </a:solidFill>
              </a:defRPr>
            </a:pPr>
            <a:r>
              <a:t>Random Failures (RNF)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Inherently stochastic and physically unpredictable by definition. Performance on this specific class is theoretically capped.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02552" y="2286000"/>
            <a:ext cx="4572000" cy="27432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8A97A8"/>
                </a:solidFill>
              </a:defRPr>
            </a:pPr>
            <a:r>
              <a:t>Synthetic Dataset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While AI4I 2020 strictly mirrors physical laws, models must be fine-tuned on physical sensor streams before production deployment.</a:t>
            </a:r>
          </a:p>
        </p:txBody>
      </p:sp>
    </p:spTree>
  </p:cSld>
  <p:clrMapOvr>
    <a:masterClrMapping/>
  </p:clrMapOvr>
  <p:transition spd="slow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20 /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4647426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>
              <a:solidFill>
                <a:srgbClr val="00B0F0"/>
              </a:solidFill>
            </a:endParaRPr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rPr dirty="0"/>
              <a:t>Future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2200">
                <a:solidFill>
                  <a:srgbClr val="FFFFFF"/>
                </a:solidFill>
                <a:latin typeface="Arial"/>
              </a:defRPr>
            </a:pPr>
            <a:r>
              <a:t>• Real-Time Streaming: Kafka integration for live IoT sensor processing.</a:t>
            </a:r>
            <a:br/>
            <a:br/>
            <a:r>
              <a:t>• Deep Learning Architectures: LSTMs or 1D-CNNs for capturing temporal sequence data.</a:t>
            </a:r>
            <a:br/>
            <a:br/>
            <a:r>
              <a:t>• Edge Deployment: Quantizing the XGBoost model for deployment directly on PLCs.</a:t>
            </a:r>
          </a:p>
        </p:txBody>
      </p:sp>
    </p:spTree>
  </p:cSld>
  <p:clrMapOvr>
    <a:masterClrMapping/>
  </p:clrMapOvr>
  <p:transition spd="slow">
    <p:wip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1" y="2044005"/>
            <a:ext cx="6221130" cy="2769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>
              <a:solidFill>
                <a:srgbClr val="00B0F0"/>
              </a:solidFill>
            </a:endParaRPr>
          </a:p>
          <a:p>
            <a:pPr algn="ctr">
              <a:defRPr sz="6000" b="1">
                <a:solidFill>
                  <a:srgbClr val="FFFFFF"/>
                </a:solidFill>
              </a:defRPr>
            </a:pPr>
            <a:r>
              <a:rPr sz="9600" dirty="0">
                <a:solidFill>
                  <a:srgbClr val="00B0F0"/>
                </a:solidFill>
              </a:rPr>
              <a:t>THANK</a:t>
            </a:r>
            <a:r>
              <a:rPr dirty="0">
                <a:solidFill>
                  <a:srgbClr val="00B0F0"/>
                </a:solidFill>
              </a:rPr>
              <a:t> </a:t>
            </a:r>
            <a:r>
              <a:rPr sz="9600" dirty="0">
                <a:solidFill>
                  <a:srgbClr val="00B0F0"/>
                </a:solidFill>
              </a:rPr>
              <a:t>YOU</a:t>
            </a:r>
          </a:p>
          <a:p>
            <a:pPr algn="ctr"/>
            <a:r>
              <a:rPr sz="3600" dirty="0">
                <a:solidFill>
                  <a:srgbClr val="00B0F0"/>
                </a:solidFill>
              </a:rPr>
              <a:t>Questions &amp; Discussion</a:t>
            </a:r>
            <a:r>
              <a:rPr sz="2400" dirty="0">
                <a:solidFill>
                  <a:srgbClr val="00B0F0"/>
                </a:solidFill>
              </a:rPr>
              <a:t>
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2EFB75-B9DB-7A1C-1A98-41C6DA2EE0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3449" y="1469824"/>
            <a:ext cx="2857500" cy="2857500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C785CD7-AE2F-8A66-BD0B-DF22B86B016B}"/>
              </a:ext>
            </a:extLst>
          </p:cNvPr>
          <p:cNvCxnSpPr>
            <a:cxnSpLocks/>
          </p:cNvCxnSpPr>
          <p:nvPr/>
        </p:nvCxnSpPr>
        <p:spPr>
          <a:xfrm>
            <a:off x="7572376" y="827781"/>
            <a:ext cx="0" cy="5114925"/>
          </a:xfrm>
          <a:prstGeom prst="line">
            <a:avLst/>
          </a:prstGeom>
          <a:ln>
            <a:solidFill>
              <a:srgbClr val="00B0F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E78C1BE-8D7F-9CBE-3850-E55228E8B55A}"/>
              </a:ext>
            </a:extLst>
          </p:cNvPr>
          <p:cNvSpPr txBox="1"/>
          <p:nvPr/>
        </p:nvSpPr>
        <p:spPr>
          <a:xfrm>
            <a:off x="8079787" y="4167663"/>
            <a:ext cx="38048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00B0F0"/>
                </a:solidFill>
              </a:rPr>
              <a:t>Scan to Try the App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875</Words>
  <Application>Microsoft Office PowerPoint</Application>
  <PresentationFormat>Widescreen</PresentationFormat>
  <Paragraphs>252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محمد رضا مصطفى علي</cp:lastModifiedBy>
  <cp:revision>1</cp:revision>
  <dcterms:created xsi:type="dcterms:W3CDTF">2013-01-27T09:14:16Z</dcterms:created>
  <dcterms:modified xsi:type="dcterms:W3CDTF">2026-08-27T11:32:55Z</dcterms:modified>
  <cp:category/>
</cp:coreProperties>
</file>